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AI求职与职业发展助手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ADCFC"/>
                </a:solidFill>
                <a:latin typeface="微软雅黑" panose="020B0503020204020204" charset="-122"/>
              </a:defRPr>
            </a:pPr>
            <a:r>
              <a:t>基于大模型技术的智能求职辅助平台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一、研究背景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761"/>
                </a:solidFill>
                <a:latin typeface="微软雅黑" panose="020B0503020204020204" charset="-122"/>
              </a:defRPr>
            </a:pPr>
            <a:r>
              <a:t>1.1 项目背景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随着高校扩招和就业市场竞争加剧，求职者面临简历不规范、面试准备不充分、信息获取渠道有限等痛点。传统求职服务费用高昂，普通求职者难以获得专业指导。本系统利用大语言模型和知识库技术，为求职者提供智能化、低成本的求职辅助服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761"/>
                </a:solidFill>
                <a:latin typeface="微软雅黑" panose="020B0503020204020204" charset="-122"/>
              </a:defRPr>
            </a:pPr>
            <a:r>
              <a:t>1.2 应用场景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简历优化：根据岗位JD分析简历匹配度，提供针对性优化建议</a:t>
            </a:r>
            <a:br/>
            <a:r>
              <a:t>• 模拟面试：基于知识库或网络搜索生成专业面试题目，模拟真实面试</a:t>
            </a:r>
            <a:br/>
            <a:r>
              <a:t>• 职业咨询：基于用户背景和目标岗位提供发展建议</a:t>
            </a:r>
            <a:br/>
            <a:r>
              <a:t>• 岗位匹配：帮助用户理解岗位要求，匹配合适职位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965" y="542671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761"/>
                </a:solidFill>
                <a:latin typeface="微软雅黑" panose="020B0503020204020204" charset="-122"/>
              </a:defRPr>
            </a:pPr>
            <a:r>
              <a:t>1.3 社会价值与商业潜力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60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社会价值：促进教育就业公平、提升求职效率、帮助用户提升专业技能。商业潜力：可向企业提供HR服务、增值会员模式、与培训机构合作提供SaaS平台。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二、面向人群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  <a:latin typeface="微软雅黑" panose="020B0503020204020204" charset="-122"/>
              </a:defRPr>
            </a:pPr>
            <a:r>
              <a:t>应届毕业生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缺乏求职经验，需要面试指导和简历优化建议，首次步入职场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19" y="137160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1999" y="1554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  <a:latin typeface="微软雅黑" panose="020B0503020204020204" charset="-122"/>
              </a:defRPr>
            </a:pPr>
            <a:r>
              <a:t>转行者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20116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需要了解新行业的面试要点和技能要求，跨领域寻找工作机会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8" y="137160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38" y="1554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  <a:latin typeface="微软雅黑" panose="020B0503020204020204" charset="-122"/>
              </a:defRPr>
            </a:pPr>
            <a:r>
              <a:t>职场跳槽者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38" y="20116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需要高效准备面试，在有限时间内展示核心竞争力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5760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40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  <a:latin typeface="微软雅黑" panose="020B0503020204020204" charset="-122"/>
              </a:defRPr>
            </a:pPr>
            <a:r>
              <a:t>普通求职者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976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希望提升简历质量和面试技巧，获得专业的求职指导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三、系统架构设计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761"/>
                </a:solidFill>
                <a:latin typeface="微软雅黑" panose="020B0503020204020204" charset="-122"/>
              </a:defRPr>
            </a:pPr>
            <a:r>
              <a:t>3.1 整体架构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系统采用三层Web架构模式：用户交互层负责页面渲染和用户交互；业务逻辑层作为核心枢纽，接收请求、调用AI服务、处理业务规则；数据服务层封装外部AI平台交互，包括火山方舟大模型、火山知识库、网络搜索API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6575" y="29260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761"/>
                </a:solidFill>
                <a:latin typeface="微软雅黑" panose="020B0503020204020204" charset="-122"/>
              </a:defRPr>
            </a:pPr>
            <a:r>
              <a:t>3.2 设计原则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2615" y="3429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高可用性：关键功能具备降级方案，确保服务稳定</a:t>
            </a:r>
            <a:br/>
            <a:r>
              <a:t>• 用户友好：界面简洁直观，操作流程简短</a:t>
            </a:r>
            <a:br/>
            <a:r>
              <a:t>• 成本可控：优先使用本地知识库减少API调用</a:t>
            </a:r>
            <a:br/>
            <a:r>
              <a:t>• 可扩展性：模块化架构，便于功能扩展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2615" y="4937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761"/>
                </a:solidFill>
                <a:latin typeface="微软雅黑" panose="020B0503020204020204" charset="-122"/>
              </a:defRPr>
            </a:pPr>
            <a:r>
              <a:t>3.3 模块划分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简历分析模块：解析简历文本，提取关键信息，与JD对比生成匹配度分析和优化建议。模拟面试模块：基于职业类型采用不同策略，网络相关职业优先知识库，其他职业结合搜索和模型生成。知识库服务模块：基于RAG技术架构，为面试功能提供专业知识支撑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四、核心功能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  <a:latin typeface="微软雅黑" panose="020B0503020204020204" charset="-122"/>
              </a:defRPr>
            </a:pPr>
            <a:r>
              <a:t>AI简历优化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智能分析简历内容，自动提取关键信息，与目标岗位JD进行匹配度分析，生成专业优化建议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19" y="137160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1999" y="1554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  <a:latin typeface="微软雅黑" panose="020B0503020204020204" charset="-122"/>
              </a:defRPr>
            </a:pPr>
            <a:r>
              <a:t>智能简历生成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20116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基于用户背景和目标岗位，自动生成专业规范的简历内容，支持导出为PDF格式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8" y="137160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38" y="1554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  <a:latin typeface="微软雅黑" panose="020B0503020204020204" charset="-122"/>
              </a:defRPr>
            </a:pPr>
            <a:r>
              <a:t>岗位精准匹配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38" y="20116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AI分析简历与岗位要求的契合度，从技能、经验、学历等多维度计算匹配分数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5760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40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  <a:latin typeface="微软雅黑" panose="020B0503020204020204" charset="-122"/>
              </a:defRPr>
            </a:pPr>
            <a:r>
              <a:t>简历评价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976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多维度评估简历质量，分析结构完整性、关键词匹配、表达清晰度等，给出改进方向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19" y="365760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1999" y="3840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  <a:latin typeface="微软雅黑" panose="020B0503020204020204" charset="-122"/>
              </a:defRPr>
            </a:pPr>
            <a:r>
              <a:t>模拟面试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42976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AI智能模拟真实面试场景，根据职业类型智能选择面试问题，支持多轮对话交互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58" y="365760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38" y="3840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  <a:latin typeface="微软雅黑" panose="020B0503020204020204" charset="-122"/>
              </a:defRPr>
            </a:pPr>
            <a:r>
              <a:t>职业测评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38" y="42976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科学问卷结合AI分析，帮助用户了解职业倾向和发展方向，制定职业规划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五、核心技术思路</a:t>
            </a:r>
          </a:p>
        </p:txBody>
      </p:sp>
      <p:sp>
        <p:nvSpPr>
          <p:cNvPr id="5" name="TextBox 4"/>
          <p:cNvSpPr txBox="1"/>
          <p:nvPr>
            <p:custDataLst>
              <p:tags r:id="rId1"/>
            </p:custDataLst>
          </p:nvPr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761"/>
                </a:solidFill>
                <a:latin typeface="微软雅黑" panose="020B0503020204020204" charset="-122"/>
              </a:defRPr>
            </a:pPr>
            <a:r>
              <a:t>5.1 火山方舟大模型</a:t>
            </a:r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640080" y="1920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基于字节跳动火山引擎方舟大模型，提供强大的自然语言理解和生成能力。应用于简历分析、面试对话、评估报告生成等核心功能。</a:t>
            </a: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64008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761"/>
                </a:solidFill>
                <a:latin typeface="微软雅黑" panose="020B0503020204020204" charset="-122"/>
              </a:defRPr>
            </a:pPr>
            <a:r>
              <a:t>5.2 火山知识库（RAG检索增强）</a:t>
            </a: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640080" y="3291840"/>
            <a:ext cx="1097280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集成专业面试题库，采用RAG技术架构。当用户选择相关职业时，系统从知识库中检索相关问题，确保面试内容的专业性和准确性。知识库无结果时自动切换网络搜索模式。</a:t>
            </a: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640080" y="4530725"/>
            <a:ext cx="2680335" cy="4298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761"/>
                </a:solidFill>
                <a:latin typeface="微软雅黑" panose="020B0503020204020204" charset="-122"/>
              </a:defRPr>
            </a:pPr>
            <a:r>
              <a:t>5.</a:t>
            </a:r>
            <a:r>
              <a:rPr lang="en-US"/>
              <a:t>3</a:t>
            </a:r>
            <a:r>
              <a:t> Flask Web框架</a:t>
            </a: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640080" y="5175885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轻量级Python Web框架，快速构建RESTful API服务，处理前端请求并调用后端AI服务，提供流畅的用户体验。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615124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/>
              <a:t>六</a:t>
            </a:r>
            <a:r>
              <a:t>、问题诊断与关键解决思路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761"/>
                </a:solidFill>
                <a:latin typeface="微软雅黑" panose="020B0503020204020204" charset="-122"/>
              </a:defRPr>
            </a:pPr>
            <a:r>
              <a:t>问题一：知识库问题未被优先使用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原因：大模型可能忽略一次性传入的知识库内容。解决：从一次性传入改为每次调用时动态查询知识库，每轮对话都先检索再决定使用知识库问题还是模型生成。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761"/>
                </a:solidFill>
                <a:latin typeface="微软雅黑" panose="020B0503020204020204" charset="-122"/>
              </a:defRPr>
            </a:pPr>
            <a:r>
              <a:t>问题二：职业类型判断不准确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原因：初始关键词列表覆盖有限。解决：扩展关键词列表（增加20余个关键词），支持同义词和上位词匹配，提高边缘职业识别准确率。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761"/>
                </a:solidFill>
                <a:latin typeface="微软雅黑" panose="020B0503020204020204" charset="-122"/>
              </a:defRPr>
            </a:pPr>
            <a:r>
              <a:t>问题三：模型输出格式不稳定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634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原因：生成内容具有随机性，Prompt未明确规定输出格式。解决：优化Prompt设计，明确指定JSON输出结构，对输出进行后处理格式化，确保格式一致性。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293751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/>
              <a:t>七</a:t>
            </a:r>
            <a:r>
              <a:t>、改进方向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812925" cy="4298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761"/>
                </a:solidFill>
                <a:latin typeface="微软雅黑" panose="020B0503020204020204" charset="-122"/>
              </a:defRPr>
            </a:pPr>
            <a:r>
              <a:rPr lang="en-US"/>
              <a:t>7</a:t>
            </a:r>
            <a:r>
              <a:t>.1 短期改进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扩大知识库内容覆盖，增加更多网络技术方向的专业问题</a:t>
            </a:r>
            <a:br/>
            <a:r>
              <a:t>• 优化Prompt模板，进一步提升输出格式稳定性</a:t>
            </a:r>
            <a:br/>
            <a:r>
              <a:t>• 增加面试轮次的智能调整机制，根据回答质量灵活增减追问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2971800"/>
            <a:ext cx="1812925" cy="4298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761"/>
                </a:solidFill>
                <a:latin typeface="微软雅黑" panose="020B0503020204020204" charset="-122"/>
              </a:defRPr>
            </a:pPr>
            <a:r>
              <a:rPr lang="en-US"/>
              <a:t>7</a:t>
            </a:r>
            <a:r>
              <a:t>.2 长期规划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引入用户反馈机制，让用户对面试问题进行评价</a:t>
            </a:r>
            <a:br/>
            <a:r>
              <a:t>• 构建更完善的知识图谱，实现跨领域知识关联</a:t>
            </a:r>
            <a:br/>
            <a:r>
              <a:t>• 增加多语言支持，扩展服务的适用范围</a:t>
            </a:r>
            <a:br/>
            <a:r>
              <a:t>• 考虑引入人工专家审核机制，对知识库内容进行专业校准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885" y="4780915"/>
            <a:ext cx="1812925" cy="4298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761"/>
                </a:solidFill>
                <a:latin typeface="微软雅黑" panose="020B0503020204020204" charset="-122"/>
              </a:defRPr>
            </a:pPr>
            <a:r>
              <a:rPr lang="en-US"/>
              <a:t>7</a:t>
            </a:r>
            <a:r>
              <a:t>.3 技术演进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415" y="5130165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随着大模型技术发展，可持续引入更强大的模型能力，如多模态支持（简历图片解析）、语音交互（面试对话）等，持续提升用户体验和服务质量。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201930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/>
              <a:t>八</a:t>
            </a:r>
            <a:r>
              <a:t>、总结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761"/>
                </a:solidFill>
                <a:latin typeface="微软雅黑" panose="020B0503020204020204" charset="-122"/>
              </a:defRPr>
            </a:pPr>
            <a:r>
              <a:t>项目成果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本系统成功构建了一个面向求职者的智能化辅助平台，通过整合大语言模型、知识库检索和智能调度技术，为用户提供简历分析和模拟面试两大核心功能。系统采用模块化设计，具有良好的可扩展性和稳定性。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761"/>
                </a:solidFill>
                <a:latin typeface="微软雅黑" panose="020B0503020204020204" charset="-122"/>
              </a:defRPr>
            </a:pPr>
            <a:r>
              <a:t>技术亮点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RAG检索增强技术确保专业领域面试质量</a:t>
            </a:r>
            <a:br/>
            <a:r>
              <a:t>• 智能职业类型判断实现差异化服务策略</a:t>
            </a:r>
            <a:br/>
            <a:r>
              <a:t>• 完善的降级机制保障系统高可用性</a:t>
            </a:r>
            <a:br/>
            <a:r>
              <a:t>• 基于Prompt工程的输出质量优化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770" y="4846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761"/>
                </a:solidFill>
                <a:latin typeface="微软雅黑" panose="020B0503020204020204" charset="-122"/>
              </a:defRPr>
            </a:pPr>
            <a:r>
              <a:t>应用价值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965" y="5211445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降低求职门槛，提升求职效率，让更多求职者能够获得专业的求职指导服务，具有显著的社会价值和商业潜力。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ADCFC"/>
                </a:solidFill>
                <a:latin typeface="微软雅黑" panose="020B0503020204020204" charset="-122"/>
              </a:defRPr>
            </a:pPr>
            <a:r>
              <a:t>AI求职与职业发展助手 | 基于大模型技术的智能求职辅助平台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75.2,&quot;left&quot;:50.4,&quot;top&quot;:108,&quot;width&quot;:864}"/>
</p:tagLst>
</file>

<file path=ppt/tags/tag2.xml><?xml version="1.0" encoding="utf-8"?>
<p:tagLst xmlns:p="http://schemas.openxmlformats.org/presentationml/2006/main">
  <p:tag name="KSO_WM_DIAGRAM_VIRTUALLY_FRAME" val="{&quot;height&quot;:475.2,&quot;left&quot;:50.4,&quot;top&quot;:108,&quot;width&quot;:864}"/>
</p:tagLst>
</file>

<file path=ppt/tags/tag3.xml><?xml version="1.0" encoding="utf-8"?>
<p:tagLst xmlns:p="http://schemas.openxmlformats.org/presentationml/2006/main">
  <p:tag name="KSO_WM_DIAGRAM_VIRTUALLY_FRAME" val="{&quot;height&quot;:475.2,&quot;left&quot;:50.4,&quot;top&quot;:108,&quot;width&quot;:864}"/>
</p:tagLst>
</file>

<file path=ppt/tags/tag4.xml><?xml version="1.0" encoding="utf-8"?>
<p:tagLst xmlns:p="http://schemas.openxmlformats.org/presentationml/2006/main">
  <p:tag name="KSO_WM_DIAGRAM_VIRTUALLY_FRAME" val="{&quot;height&quot;:475.2,&quot;left&quot;:50.4,&quot;top&quot;:108,&quot;width&quot;:864}"/>
</p:tagLst>
</file>

<file path=ppt/tags/tag5.xml><?xml version="1.0" encoding="utf-8"?>
<p:tagLst xmlns:p="http://schemas.openxmlformats.org/presentationml/2006/main">
  <p:tag name="KSO_WM_DIAGRAM_VIRTUALLY_FRAME" val="{&quot;height&quot;:475.2,&quot;left&quot;:50.4,&quot;top&quot;:108,&quot;width&quot;:864}"/>
</p:tagLst>
</file>

<file path=ppt/tags/tag6.xml><?xml version="1.0" encoding="utf-8"?>
<p:tagLst xmlns:p="http://schemas.openxmlformats.org/presentationml/2006/main">
  <p:tag name="KSO_WM_DIAGRAM_VIRTUALLY_FRAME" val="{&quot;height&quot;:475.2,&quot;left&quot;:50.4,&quot;top&quot;:108,&quot;width&quot;:86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2123</Words>
  <Application>WPS 演示</Application>
  <PresentationFormat>On-screen Show (4:3)</PresentationFormat>
  <Paragraphs>136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WPS_1689336546</cp:lastModifiedBy>
  <cp:revision>4</cp:revision>
  <dcterms:created xsi:type="dcterms:W3CDTF">2013-01-27T09:14:00Z</dcterms:created>
  <dcterms:modified xsi:type="dcterms:W3CDTF">2026-05-08T02:44:26Z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01F9578A45C14F35BF7BC2AB5E7B979A_12</vt:lpwstr>
  </property>
  <property fmtid="{D5CDD505-2E9C-101B-9397-08002B2CF9AE}" pid="3" name="KSOProductBuildVer">
    <vt:lpwstr>2052-12.1.0.21915</vt:lpwstr>
  </property>
</Properties>
</file>